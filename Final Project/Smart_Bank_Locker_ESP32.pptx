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04688" y="1051560"/>
            <a:ext cx="914400" cy="91440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12573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BANK LOCKER SECURITY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463040" y="3337560"/>
            <a:ext cx="9235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ESP32 Architecture for Encrypted PIN Transfer &amp; Wireless Locker Authentication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937760" y="4160520"/>
            <a:ext cx="2286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38912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8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IIT Jammu Summer School 2026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8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&amp; Embedded Systems  •  Hardware Security Mini-Project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Tannu &amp; Mukul Bindal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Project?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Rethinking how a locker decides who to trust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6116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490472"/>
            <a:ext cx="5806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keypad locks can be tampered or shoulder-surfed.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54431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423160"/>
            <a:ext cx="5806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a PIN wirelessly in plain text invites sniffing attacks.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477006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3355848"/>
            <a:ext cx="5806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board has no separation between input and verification.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409694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4288536"/>
            <a:ext cx="5806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attempts often go unnoticed — no alarm, no warning.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635240" y="1508760"/>
            <a:ext cx="3977640" cy="3703320"/>
          </a:xfrm>
          <a:prstGeom prst="roundRect">
            <a:avLst>
              <a:gd name="adj" fmla="val 2963"/>
            </a:avLst>
          </a:prstGeom>
          <a:solidFill>
            <a:srgbClr val="EEF5F8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36608" y="1783080"/>
            <a:ext cx="777240" cy="77724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487" y="1957959"/>
            <a:ext cx="427482" cy="4274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09560" y="2697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Core Idea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955280" y="3108960"/>
            <a:ext cx="33375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the locker's brain into two ESP32 nodes — one reads the PIN and encrypts it, the other verifies it and controls the lock. Neither node alone can be tricked into opening the locker.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539496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21792" y="5504688"/>
            <a:ext cx="384048" cy="384048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03" y="5591099"/>
            <a:ext cx="211226" cy="2112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05840" y="5394960"/>
            <a:ext cx="79552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1847088" y="5394960"/>
            <a:ext cx="8229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1929384" y="539496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2002536" y="5504688"/>
            <a:ext cx="384048" cy="384048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947" y="5591099"/>
            <a:ext cx="211226" cy="21122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386584" y="5394960"/>
            <a:ext cx="79552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3227832" y="5394960"/>
            <a:ext cx="8229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3310128" y="539496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3383280" y="5504688"/>
            <a:ext cx="384048" cy="384048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691" y="5591099"/>
            <a:ext cx="211226" cy="21122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67328" y="5394960"/>
            <a:ext cx="79552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</a:t>
            </a:r>
            <a:endParaRPr lang="en-US" sz="950" dirty="0"/>
          </a:p>
        </p:txBody>
      </p:sp>
      <p:sp>
        <p:nvSpPr>
          <p:cNvPr id="35" name="Text 25"/>
          <p:cNvSpPr/>
          <p:nvPr/>
        </p:nvSpPr>
        <p:spPr>
          <a:xfrm>
            <a:off x="4608576" y="5394960"/>
            <a:ext cx="8229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690872" y="539496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764024" y="5504688"/>
            <a:ext cx="384048" cy="384048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435" y="5591099"/>
            <a:ext cx="211226" cy="21122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148072" y="5394960"/>
            <a:ext cx="79552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 &amp; Verify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5989320" y="5394960"/>
            <a:ext cx="8229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6071616" y="539496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144768" y="5504688"/>
            <a:ext cx="384048" cy="384048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179" y="5591099"/>
            <a:ext cx="211226" cy="21122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528816" y="5394960"/>
            <a:ext cx="79552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Actuate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Bank Locker Security System  |  ESP32 Dual-Node Encrypted Access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node reads and encrypts; slave node verifies and actuates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2057400"/>
            <a:ext cx="566928" cy="566928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580" y="21821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Keypad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5087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02736" y="1783080"/>
            <a:ext cx="640080" cy="64008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754" y="192709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8920" y="2560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ESP32 - A  (Master)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34640" y="2971800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PIN, encrypts with shared key, sends ciphertext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532120" y="20574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EEF5F8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824728" y="2212848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598" y="231571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32120" y="27432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Wi-Fi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Bluetooth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331720" y="21945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321808" y="219456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766560" y="219456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7086600" y="15087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37576" y="1783080"/>
            <a:ext cx="640080" cy="64008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594" y="192709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2560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ESP32 - B  (Slave)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269480" y="2971800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Decrypts ciphertext, verifies PIN, drives outputs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738360" y="21945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0104120" y="182880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607040" y="2057400"/>
            <a:ext cx="566928" cy="566928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764" y="2182124"/>
            <a:ext cx="317480" cy="317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104120" y="274320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Servo, LED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Buzzer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" y="41148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EEF5F8"/>
          </a:solidFill>
        </p:spPr>
      </p:sp>
      <p:sp>
        <p:nvSpPr>
          <p:cNvPr id="31" name="Text 24"/>
          <p:cNvSpPr/>
          <p:nvPr/>
        </p:nvSpPr>
        <p:spPr>
          <a:xfrm>
            <a:off x="822960" y="427939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Design Principle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822960" y="4663440"/>
            <a:ext cx="49377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raw PIN never leaves ESP32 - A. Only encrypted data travels over the wireless link, so intercepting the transmission alone cannot reveal the PIN.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172200" y="41148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EEF5F8"/>
          </a:solidFill>
        </p:spPr>
      </p:sp>
      <p:sp>
        <p:nvSpPr>
          <p:cNvPr id="34" name="Text 27"/>
          <p:cNvSpPr/>
          <p:nvPr/>
        </p:nvSpPr>
        <p:spPr>
          <a:xfrm>
            <a:off x="6446520" y="427939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Wireless Link Choice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6446520" y="4663440"/>
            <a:ext cx="49377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Wi-Fi (ESP-NOW): peer-to-peer, no router, very low latency — recommended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Bluetooth Classic / BLE: simple pairing, good short-range fallback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Bank Locker Security System  |  ESP32 Dual-Node Encrypted Access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minimal, low-cost bill of materials for the simulation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5F8"/>
          </a:solidFill>
          <a:effectLst>
            <a:outerShdw blurRad="762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30352" cy="530352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569" y="1948129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783080"/>
            <a:ext cx="24414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x ESP32 Dev Boards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49631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master (input side), one slave (locker side).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5F8"/>
          </a:solidFill>
          <a:effectLst>
            <a:outerShdw blurRad="762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28800"/>
            <a:ext cx="530352" cy="530352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49" y="1948129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783080"/>
            <a:ext cx="24414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4x4 Matrix Keypad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17720" y="249631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entering the numeric PIN on the master node.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5F8"/>
          </a:solidFill>
          <a:effectLst>
            <a:outerShdw blurRad="762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828800"/>
            <a:ext cx="530352" cy="530352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529" y="1948129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783080"/>
            <a:ext cx="24414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Micro Servo Motor (SG90)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458200" y="249631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Simulates the physical locker bolt / latch.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5F8"/>
          </a:solidFill>
          <a:effectLst>
            <a:outerShdw blurRad="762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77640"/>
            <a:ext cx="530352" cy="530352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69" y="4096969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3931920"/>
            <a:ext cx="24414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Green &amp; Red LEDs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64515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status for access granted / denied.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5F8"/>
          </a:solidFill>
          <a:effectLst>
            <a:outerShdw blurRad="762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977640"/>
            <a:ext cx="530352" cy="530352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049" y="4096969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931920"/>
            <a:ext cx="24414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Piezo Buzzer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617720" y="464515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Audible alarm triggered on wrong PIN attempts.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5F8"/>
          </a:solidFill>
          <a:effectLst>
            <a:outerShdw blurRad="762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977640"/>
            <a:ext cx="530352" cy="530352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529" y="4096969"/>
            <a:ext cx="291694" cy="2916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25712" y="3931920"/>
            <a:ext cx="24414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Breadboard &amp; Jumper Wires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458200" y="464515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prototyping both ESP32 nodes on Wokwi / hardware.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Bank Locker Security System  |  ESP32 Dual-Node Encrypted Access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Encryption &amp; Decryption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shared secret key turns the PIN into unreadable data before it is sent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  <a:effectLst>
            <a:outerShdw blurRad="635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(1234)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60020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16002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(XOR / AES key)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  <a:effectLst>
            <a:outerShdw blurRad="635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6002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Ciphertext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(sent over link)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160020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0920" y="16002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(same key)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160020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EEF5F8"/>
          </a:solidFill>
          <a:ln w="12700">
            <a:solidFill>
              <a:srgbClr val="D7E6EC"/>
            </a:solidFill>
            <a:prstDash val="solid"/>
          </a:ln>
          <a:effectLst>
            <a:outerShdw blurRad="63500" dist="25400" dir="5400000" algn="bl" rotWithShape="0">
              <a:srgbClr val="0B22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16002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Verify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EEF5F8"/>
          </a:solidFill>
        </p:spPr>
      </p:sp>
      <p:sp>
        <p:nvSpPr>
          <p:cNvPr id="19" name="Shape 17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3313557"/>
            <a:ext cx="276606" cy="27660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3040" y="321868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ESP32 - A (Master)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8680" y="370332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Entered PIN is combined with a pre-shared secret key using a lightweight cipher (XOR, or AES-128 for stronger security)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resulting ciphertext is placed on the Wi-Fi / Bluetooth packet — never the raw PIN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72200" y="297180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EEF5F8"/>
          </a:solidFill>
        </p:spPr>
      </p:sp>
      <p:sp>
        <p:nvSpPr>
          <p:cNvPr id="24" name="Shape 21"/>
          <p:cNvSpPr/>
          <p:nvPr/>
        </p:nvSpPr>
        <p:spPr>
          <a:xfrm>
            <a:off x="6446520" y="3200400"/>
            <a:ext cx="502920" cy="502920"/>
          </a:xfrm>
          <a:prstGeom prst="ellipse">
            <a:avLst/>
          </a:prstGeom>
          <a:solidFill>
            <a:srgbClr val="065A82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3313557"/>
            <a:ext cx="276606" cy="27660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86600" y="321868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ESP32 - B (Slave)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492240" y="370332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Receives ciphertext and decrypts it using the identical shared key stored in its firmware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Decrypted PIN is compared with the reference PIN to decide access — match or mismatch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Bank Locker Security System  |  ESP32 Dual-Node Encrypted Access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Working Flow &amp; Security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ESP32 - B does once the PIN is verified, plus what keeps the system tamper-resistant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E9F7EF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2E9E5B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7590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PIN Matches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Servo unlocks the bolt; green LED turns 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confirmation tone on the buzzer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Locker auto-relocks after a set delay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DECE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C0392B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957" y="175907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71907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PIN Mismatches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19456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Bolt stays engaged; red LED turns ON / blinks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 sounds an alarm to alert nearby staff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failures trigger a temporary lockout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Additional Security Layers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EF5F8"/>
          </a:solidFill>
          <a:effectLst>
            <a:outerShdw blurRad="63500" dist="25400" dir="5400000" algn="bl" rotWithShape="0">
              <a:srgbClr val="0B223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623060" y="464515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30" y="474802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" y="51937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Encrypted Transmission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85800" y="55321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ciphertext travels wirelessly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410712" y="44805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EF5F8"/>
          </a:solidFill>
          <a:effectLst>
            <a:outerShdw blurRad="63500" dist="25400" dir="5400000" algn="bl" rotWithShape="0">
              <a:srgbClr val="0B2233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85132" y="464515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002" y="4748022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02152" y="51937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Split Trust Model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547872" y="55321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&amp; verification on separate nodes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272784" y="44805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EF5F8"/>
          </a:solidFill>
          <a:effectLst>
            <a:outerShdw blurRad="63500" dist="25400" dir="5400000" algn="bl" rotWithShape="0">
              <a:srgbClr val="0B2233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47204" y="464515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074" y="4748022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64224" y="51937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Attempt Lockout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9944" y="55321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Pauses system after repeated failures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9134856" y="44805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EF5F8"/>
          </a:solidFill>
          <a:effectLst>
            <a:outerShdw blurRad="63500" dist="25400" dir="5400000" algn="bl" rotWithShape="0">
              <a:srgbClr val="0B2233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209276" y="464515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2146" y="4748022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26296" y="51937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Shared-Key Design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9272016" y="55321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boards with the key can decrypt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Bank Locker Security System  |  ESP32 Dual-Node Encrypted Access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512064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B3A5C"/>
          </a:solidFill>
        </p:spPr>
      </p:sp>
      <p:sp>
        <p:nvSpPr>
          <p:cNvPr id="6" name="Shape 4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7276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It Applies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lockers and vault access points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server-room or cabinet security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Smart-home safes and storage boxes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28016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B3A5C"/>
          </a:solidFill>
        </p:spPr>
      </p:sp>
      <p:sp>
        <p:nvSpPr>
          <p:cNvPr id="11" name="Shape 8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1C7293"/>
          </a:solidFill>
          <a:effectLst>
            <a:outerShdw blurRad="101600" dist="38100" dir="5400000" algn="bl" rotWithShape="0">
              <a:srgbClr val="0B2233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16219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57276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92240" y="2057400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cipher from XOR demo to full AES-128 / 256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fingerprint or RFID as a second factor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attempts to the cloud and control via a mobile app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937760" y="3977640"/>
            <a:ext cx="2286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4160520"/>
            <a:ext cx="10332720" cy="2055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1463040" y="4983480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3785</Words>
  <Application>WPS Presentation</Application>
  <PresentationFormat>On-screen Show (16:9)</PresentationFormat>
  <Paragraphs>216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4</cp:revision>
  <dcterms:created xsi:type="dcterms:W3CDTF">2026-08-01T12:49:00Z</dcterms:created>
  <dcterms:modified xsi:type="dcterms:W3CDTF">2026-08-02T06:13:20Z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5885E41442DB48E8A0C90B0CBC13D0A0_13</vt:lpwstr>
  </property>
  <property fmtid="{D5CDD505-2E9C-101B-9397-08002B2CF9AE}" pid="3" name="KSOProductBuildVer">
    <vt:lpwstr>1033-12.1.0.28032</vt:lpwstr>
  </property>
</Properties>
</file>